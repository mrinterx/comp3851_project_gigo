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Lora"/>
      <p:regular r:id="rId23"/>
      <p:bold r:id="rId24"/>
      <p:italic r:id="rId25"/>
      <p:boldItalic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2599A8-2E9F-4C3E-BC63-D499EF0130D4}">
  <a:tblStyle styleId="{982599A8-2E9F-4C3E-BC63-D499EF0130D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Lora-bold.fntdata"/><Relationship Id="rId23" Type="http://schemas.openxmlformats.org/officeDocument/2006/relationships/font" Target="fonts/Lor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ora-boldItalic.fntdata"/><Relationship Id="rId25" Type="http://schemas.openxmlformats.org/officeDocument/2006/relationships/font" Target="fonts/Lora-italic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9" Type="http://schemas.openxmlformats.org/officeDocument/2006/relationships/image" Target="../media/image29.png"/><Relationship Id="rId5" Type="http://schemas.openxmlformats.org/officeDocument/2006/relationships/image" Target="../media/image8.png"/><Relationship Id="rId6" Type="http://schemas.openxmlformats.org/officeDocument/2006/relationships/image" Target="../media/image23.png"/><Relationship Id="rId7" Type="http://schemas.openxmlformats.org/officeDocument/2006/relationships/image" Target="../media/image3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41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40.png"/><Relationship Id="rId6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35.png"/><Relationship Id="rId6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Relationship Id="rId6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9" Type="http://schemas.openxmlformats.org/officeDocument/2006/relationships/image" Target="../media/image34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16.png"/><Relationship Id="rId8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Relationship Id="rId4" Type="http://schemas.openxmlformats.org/officeDocument/2006/relationships/image" Target="../media/image11.png"/><Relationship Id="rId10" Type="http://schemas.openxmlformats.org/officeDocument/2006/relationships/image" Target="../media/image37.png"/><Relationship Id="rId9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Relationship Id="rId7" Type="http://schemas.openxmlformats.org/officeDocument/2006/relationships/image" Target="../media/image28.png"/><Relationship Id="rId8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381500" y="733425"/>
            <a:ext cx="342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COMP3851B FINAL PROJECT REPORT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385411" y="1167705"/>
            <a:ext cx="9421177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3366"/>
                </a:solidFill>
                <a:latin typeface="Lora"/>
                <a:ea typeface="Lora"/>
                <a:cs typeface="Lora"/>
                <a:sym typeface="Lora"/>
              </a:rPr>
              <a:t>Gig Job Placement Services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3366"/>
                </a:solidFill>
                <a:latin typeface="Lora"/>
                <a:ea typeface="Lora"/>
                <a:cs typeface="Lora"/>
                <a:sym typeface="Lora"/>
              </a:rPr>
              <a:t> (Gigo App)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524500" y="3152477"/>
            <a:ext cx="1143000" cy="10120"/>
          </a:xfrm>
          <a:prstGeom prst="roundRect">
            <a:avLst>
              <a:gd fmla="val 16667" name="adj"/>
            </a:avLst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081212" y="3638847"/>
            <a:ext cx="80295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Bridging the gap in the Gig Economy through Real-Time Matching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733800" y="4960887"/>
            <a:ext cx="12382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rPr>
              <a:t>PROJECT MANAGER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733800" y="5402758"/>
            <a:ext cx="12382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Yiheng Li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34050" y="4960887"/>
            <a:ext cx="2724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rPr>
              <a:t>TEAM MEMBERS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734050" y="5402758"/>
            <a:ext cx="27241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[Member A], [Member B]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 [Member C], [Member D]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104900" y="2369343"/>
            <a:ext cx="47053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01. Introduction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Project overview and mission statement.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104900" y="3182540"/>
            <a:ext cx="47053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02. Industry Context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Understanding the market gap.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104900" y="3995737"/>
            <a:ext cx="47053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03. Solution Overview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How Gigo addresses the problem.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04900" y="4808934"/>
            <a:ext cx="47053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04. Technical Evolution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Strategic pivot to React Native.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15125" y="2369343"/>
            <a:ext cx="47053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05. System Architecture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Client-Server model explanation.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15125" y="3182540"/>
            <a:ext cx="47053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06. Methodology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Agile development process.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15125" y="3995737"/>
            <a:ext cx="47053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07. Key Results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Showcasing the functional app.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15125" y="4808934"/>
            <a:ext cx="47053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08. Ethics &amp; Conclusion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Frameworks and future work.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71525" y="581025"/>
            <a:ext cx="111813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Lora"/>
                <a:ea typeface="Lora"/>
                <a:cs typeface="Lora"/>
                <a:sym typeface="Lora"/>
              </a:rPr>
              <a:t>Presentation Agenda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771525" y="1304925"/>
            <a:ext cx="10648950" cy="28575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40744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2206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40338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484703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0744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2206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0338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847034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92003"/>
            <a:ext cx="5038725" cy="260746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71525" y="2190154"/>
            <a:ext cx="52906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4513"/>
                </a:solidFill>
                <a:latin typeface="Lora"/>
                <a:ea typeface="Lora"/>
                <a:cs typeface="Lora"/>
                <a:sym typeface="Lora"/>
              </a:rPr>
              <a:t>Project Overview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71525" y="2742604"/>
            <a:ext cx="50387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This report documents the successful transition of the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Gigo App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from a conceptual prototype (Part A) to a fully functional software artifact (Part B).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71525" y="4100512"/>
            <a:ext cx="52906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4513"/>
                </a:solidFill>
                <a:latin typeface="Lora"/>
                <a:ea typeface="Lora"/>
                <a:cs typeface="Lora"/>
                <a:sym typeface="Lora"/>
              </a:rPr>
              <a:t>The Mission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71525" y="4652962"/>
            <a:ext cx="50387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To create a seamless, transparent, and real-time platform that connects time-sensitive employers with the growing gig workforce in Southeast Asia.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724650" y="2977753"/>
            <a:ext cx="463057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4513"/>
                </a:solidFill>
                <a:latin typeface="Lora"/>
                <a:ea typeface="Lora"/>
                <a:cs typeface="Lora"/>
                <a:sym typeface="Lora"/>
              </a:rPr>
              <a:t>Key Achievement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724650" y="3530203"/>
            <a:ext cx="44100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Successfully deployed a cross-platform mobile application with secure authentication, real-time filtering, and transactional integrity.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71525" y="581025"/>
            <a:ext cx="111813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Lora"/>
                <a:ea typeface="Lora"/>
                <a:cs typeface="Lora"/>
                <a:sym typeface="Lora"/>
              </a:rPr>
              <a:t>Introduction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771525" y="1304925"/>
            <a:ext cx="10648950" cy="28575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71525" y="581025"/>
            <a:ext cx="4551506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Lora"/>
                <a:ea typeface="Lora"/>
                <a:cs typeface="Lora"/>
                <a:sym typeface="Lora"/>
              </a:rPr>
              <a:t>Industry Context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771525" y="1304925"/>
            <a:ext cx="4334767" cy="28575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7292" y="9525"/>
            <a:ext cx="6695033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771525" y="2000845"/>
            <a:ext cx="4334767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High Frequency Demand: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The logistics and retail sectors in Singapore require short-term labor on demand.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71525" y="3358753"/>
            <a:ext cx="4334767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Market Size: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The Global Gig Economy is projected to reach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$873 Billion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by 2028 (Statista).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71525" y="4716660"/>
            <a:ext cx="4334767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The Gap: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Current infrastructure is fragmented across informal channels like WhatsApp, leading to inefficiency.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110085"/>
            <a:ext cx="3359199" cy="3771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474" y="2110085"/>
            <a:ext cx="3359199" cy="3771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2110085"/>
            <a:ext cx="3359199" cy="377130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997583" y="3214985"/>
            <a:ext cx="29070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4513"/>
                </a:solidFill>
                <a:latin typeface="Lora"/>
                <a:ea typeface="Lora"/>
                <a:cs typeface="Lora"/>
                <a:sym typeface="Lora"/>
              </a:rPr>
              <a:t>Too Slow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066800" y="3767435"/>
            <a:ext cx="2768649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Traditional platforms like LinkedIn require long CVs and cover letters, unsuitable for urgent shift work.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642533" y="3214985"/>
            <a:ext cx="29070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4513"/>
                </a:solidFill>
                <a:latin typeface="Lora"/>
                <a:ea typeface="Lora"/>
                <a:cs typeface="Lora"/>
                <a:sym typeface="Lora"/>
              </a:rPr>
              <a:t>"Ghosting"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4711749" y="3767435"/>
            <a:ext cx="27686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Job seekers rarely receive feedback on their applications, creating a "double-blind" inefficiency.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287482" y="3214985"/>
            <a:ext cx="29070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4513"/>
                </a:solidFill>
                <a:latin typeface="Lora"/>
                <a:ea typeface="Lora"/>
                <a:cs typeface="Lora"/>
                <a:sym typeface="Lora"/>
              </a:rPr>
              <a:t>Lack of Trust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356699" y="3767435"/>
            <a:ext cx="27686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Informal job postings on social media lack verification and security for both parties.</a:t>
            </a:r>
            <a:endParaRPr/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79600" y="2491085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4550" y="2491085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12349" y="249108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771525" y="581025"/>
            <a:ext cx="111813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Lora"/>
                <a:ea typeface="Lora"/>
                <a:cs typeface="Lora"/>
                <a:sym typeface="Lora"/>
              </a:rPr>
              <a:t>The Problem: "Information Void"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771525" y="1304925"/>
            <a:ext cx="10648950" cy="28575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52612"/>
            <a:ext cx="50387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771525" y="1947267"/>
            <a:ext cx="52906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4513"/>
                </a:solidFill>
                <a:latin typeface="Lora"/>
                <a:ea typeface="Lora"/>
                <a:cs typeface="Lora"/>
                <a:sym typeface="Lora"/>
              </a:rPr>
              <a:t>Mobile-First Design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71525" y="2499717"/>
            <a:ext cx="50387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Optimized for speed and accessibility on iOS and Android devices.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771525" y="3312914"/>
            <a:ext cx="52906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4513"/>
                </a:solidFill>
                <a:latin typeface="Lora"/>
                <a:ea typeface="Lora"/>
                <a:cs typeface="Lora"/>
                <a:sym typeface="Lora"/>
              </a:rPr>
              <a:t>Real-Time Matching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71525" y="3865364"/>
            <a:ext cx="50387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Deterministic filtering engine allows instant discovery of relevant jobs.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71525" y="4678560"/>
            <a:ext cx="52906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4513"/>
                </a:solidFill>
                <a:latin typeface="Lora"/>
                <a:ea typeface="Lora"/>
                <a:cs typeface="Lora"/>
                <a:sym typeface="Lora"/>
              </a:rPr>
              <a:t>Closed-Loop Feedback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771525" y="5231010"/>
            <a:ext cx="50387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Integrates status tracking directly into the user dashboard (Pending → Viewed → Accepted).</a:t>
            </a:r>
            <a:endParaRPr/>
          </a:p>
        </p:txBody>
      </p:sp>
      <p:pic>
        <p:nvPicPr>
          <p:cNvPr descr="image.png" id="172" name="Google Shape;17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862137"/>
            <a:ext cx="501967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771525" y="581025"/>
            <a:ext cx="111813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Lora"/>
                <a:ea typeface="Lora"/>
                <a:cs typeface="Lora"/>
                <a:sym typeface="Lora"/>
              </a:rPr>
              <a:t>Our Solution: Gigo App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771525" y="1304925"/>
            <a:ext cx="10648950" cy="28575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0" name="Google Shape;180;p19"/>
          <p:cNvGraphicFramePr/>
          <p:nvPr/>
        </p:nvGraphicFramePr>
        <p:xfrm>
          <a:off x="771525" y="21624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{982599A8-2E9F-4C3E-BC63-D499EF0130D4}</a:tableStyleId>
              </a:tblPr>
              <a:tblGrid>
                <a:gridCol w="2662225"/>
                <a:gridCol w="2662225"/>
                <a:gridCol w="2662225"/>
                <a:gridCol w="2662225"/>
              </a:tblGrid>
              <a:tr h="73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Indeed / LinkedIn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FastJobs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Gigo (Us)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080"/>
                    </a:solidFill>
                  </a:tcPr>
                </a:tc>
              </a:tr>
              <a:tr h="73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Target Audience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White-collar / Corporate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Blue-collar / General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Gig / Casual Labor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Application Speed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Slow (CV Required)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Instant (One-Tap)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Feedback Loop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Email-based (Slow)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Limited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Real-time Dashboard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 Security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Moderate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 (RLS Enforced)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19"/>
          <p:cNvSpPr/>
          <p:nvPr/>
        </p:nvSpPr>
        <p:spPr>
          <a:xfrm>
            <a:off x="771525" y="3751957"/>
            <a:ext cx="26622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3433762" y="3751957"/>
            <a:ext cx="26622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6096000" y="3751957"/>
            <a:ext cx="26622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8758237" y="3751957"/>
            <a:ext cx="26622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771525" y="4439542"/>
            <a:ext cx="26622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3433762" y="4439542"/>
            <a:ext cx="26622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6096000" y="4439542"/>
            <a:ext cx="26622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8758237" y="4439542"/>
            <a:ext cx="26622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771525" y="5127128"/>
            <a:ext cx="26622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3433762" y="5127128"/>
            <a:ext cx="26622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6096000" y="5127128"/>
            <a:ext cx="26622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8758237" y="5127128"/>
            <a:ext cx="26622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771525" y="5814714"/>
            <a:ext cx="26622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3433762" y="5814714"/>
            <a:ext cx="26622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6096000" y="5814714"/>
            <a:ext cx="26622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8758237" y="5814714"/>
            <a:ext cx="26622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771525" y="581025"/>
            <a:ext cx="111813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Lora"/>
                <a:ea typeface="Lora"/>
                <a:cs typeface="Lora"/>
                <a:sym typeface="Lora"/>
              </a:rPr>
              <a:t>Competitor Analysis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771525" y="1304925"/>
            <a:ext cx="10648950" cy="28575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826246"/>
            <a:ext cx="5038725" cy="3026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807196"/>
            <a:ext cx="5038725" cy="306466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771525" y="1924050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 strategic pivot was made during the implementation phase to ensure scalability and performance.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945594" y="3111996"/>
            <a:ext cx="469058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66666"/>
                </a:solidFill>
                <a:latin typeface="Lora"/>
                <a:ea typeface="Lora"/>
                <a:cs typeface="Lora"/>
                <a:sym typeface="Lora"/>
              </a:rPr>
              <a:t>Part A (Proposal)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057275" y="3664446"/>
            <a:ext cx="44672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Frontend: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.NET MAUI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1057275" y="4209157"/>
            <a:ext cx="44672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Backend: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Firebase (NoSQL)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1057275" y="4753867"/>
            <a:ext cx="4467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Limitation: Limited component ecosystem and data consistency issues.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575821" y="3111996"/>
            <a:ext cx="465058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Lora"/>
                <a:ea typeface="Lora"/>
                <a:cs typeface="Lora"/>
                <a:sym typeface="Lora"/>
              </a:rPr>
              <a:t>Part B (Implementation)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686550" y="3664446"/>
            <a:ext cx="4429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Frontend: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React Native (Expo)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686550" y="4209157"/>
            <a:ext cx="4429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Backend: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Supabase (PostgreSQL)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686550" y="4753867"/>
            <a:ext cx="4429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Advantage: Superior cross-platform performance and relational data integrity.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71525" y="581025"/>
            <a:ext cx="111813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Lora"/>
                <a:ea typeface="Lora"/>
                <a:cs typeface="Lora"/>
                <a:sym typeface="Lora"/>
              </a:rPr>
              <a:t>Technical Evolution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771525" y="1304925"/>
            <a:ext cx="10648950" cy="28575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52612"/>
            <a:ext cx="50387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771525" y="1808261"/>
            <a:ext cx="52906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4513"/>
                </a:solidFill>
                <a:latin typeface="Lora"/>
                <a:ea typeface="Lora"/>
                <a:cs typeface="Lora"/>
                <a:sym typeface="Lora"/>
              </a:rPr>
              <a:t>Client-Side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771525" y="2360711"/>
            <a:ext cx="50387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Built with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React Native (Expo)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. Handles UI rendering, navigation logic, and local state management.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771525" y="3718619"/>
            <a:ext cx="52906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4513"/>
                </a:solidFill>
                <a:latin typeface="Lora"/>
                <a:ea typeface="Lora"/>
                <a:cs typeface="Lora"/>
                <a:sym typeface="Lora"/>
              </a:rPr>
              <a:t>Server-Side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771525" y="4271069"/>
            <a:ext cx="50387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Powered by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Supabase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. Provides:</a:t>
            </a:r>
            <a:endParaRPr/>
          </a:p>
        </p:txBody>
      </p:sp>
      <p:pic>
        <p:nvPicPr>
          <p:cNvPr descr="image.png" id="227" name="Google Shape;22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862137"/>
            <a:ext cx="501967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1104900" y="4749105"/>
            <a:ext cx="47053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PostgreSQL Database (Relational Store)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1104900" y="5227141"/>
            <a:ext cx="47053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Authentication (Identity Management)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1104900" y="5705177"/>
            <a:ext cx="47053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Edge Functions (Business Logic)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771525" y="581025"/>
            <a:ext cx="111813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Lora"/>
                <a:ea typeface="Lora"/>
                <a:cs typeface="Lora"/>
                <a:sym typeface="Lora"/>
              </a:rPr>
              <a:t>System Architecture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771525" y="1304925"/>
            <a:ext cx="10648950" cy="28575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3" name="Google Shape;23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78720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26524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74327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852612"/>
            <a:ext cx="50387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" y="1862137"/>
            <a:ext cx="501967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6381750" y="2084486"/>
            <a:ext cx="52906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4513"/>
                </a:solidFill>
                <a:latin typeface="Lora"/>
                <a:ea typeface="Lora"/>
                <a:cs typeface="Lora"/>
                <a:sym typeface="Lora"/>
              </a:rPr>
              <a:t>Modular Development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381750" y="2636936"/>
            <a:ext cx="50387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Decomposed into 4 independent modules to allow parallel work: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6381750" y="5428952"/>
            <a:ext cx="50387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Workflow: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Gitflow Branching &amp; Pull Requests.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6715125" y="3450133"/>
            <a:ext cx="47053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Module A: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Auth &amp; Infrastructure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6715125" y="3928169"/>
            <a:ext cx="47053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Module B: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Discovery Engine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715125" y="4406205"/>
            <a:ext cx="47053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Module C: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Transaction Logic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715125" y="4884241"/>
            <a:ext cx="47053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Module D: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Data Persistence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771525" y="581025"/>
            <a:ext cx="111813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Lora"/>
                <a:ea typeface="Lora"/>
                <a:cs typeface="Lora"/>
                <a:sym typeface="Lora"/>
              </a:rPr>
              <a:t>Agile Methodology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771525" y="1304925"/>
            <a:ext cx="10648950" cy="28575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2" name="Google Shape;25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48823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96626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44430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922341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2137" y="1614487"/>
            <a:ext cx="28575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71662" y="1624012"/>
            <a:ext cx="283845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6381750" y="2093118"/>
            <a:ext cx="52906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4513"/>
                </a:solidFill>
                <a:latin typeface="Lora"/>
                <a:ea typeface="Lora"/>
                <a:cs typeface="Lora"/>
                <a:sym typeface="Lora"/>
              </a:rPr>
              <a:t>Functional Outcome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6381750" y="2645568"/>
            <a:ext cx="50387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Fully implemented Login/Register flow using Supabase Auth.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6715125" y="3458765"/>
            <a:ext cx="47053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Session Persistence: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Users remain logged in via Async Storage tokens.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6715125" y="4271962"/>
            <a:ext cx="47053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Error Handling: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Real-time feedback for invalid credentials.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715125" y="5085159"/>
            <a:ext cx="47053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Security: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Passwords hashed (bcrypt) before storage.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771525" y="481012"/>
            <a:ext cx="111813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Lora"/>
                <a:ea typeface="Lora"/>
                <a:cs typeface="Lora"/>
                <a:sym typeface="Lora"/>
              </a:rPr>
              <a:t>Results: Authentication</a:t>
            </a: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771525" y="1204912"/>
            <a:ext cx="10648950" cy="28575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0" name="Google Shape;27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4968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3100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5123259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2362" y="1614487"/>
            <a:ext cx="2857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 txBox="1"/>
          <p:nvPr/>
        </p:nvSpPr>
        <p:spPr>
          <a:xfrm>
            <a:off x="771525" y="2083593"/>
            <a:ext cx="52906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4513"/>
                </a:solidFill>
                <a:latin typeface="Lora"/>
                <a:ea typeface="Lora"/>
                <a:cs typeface="Lora"/>
                <a:sym typeface="Lora"/>
              </a:rPr>
              <a:t>Functional Outcome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771525" y="2636043"/>
            <a:ext cx="50387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The core value proposition realized. Users can filter large datasets in real-time.</a:t>
            </a:r>
            <a:endParaRPr/>
          </a:p>
        </p:txBody>
      </p:sp>
      <p:pic>
        <p:nvPicPr>
          <p:cNvPr descr="image.png" id="281" name="Google Shape;28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1887" y="1624012"/>
            <a:ext cx="283845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4"/>
          <p:cNvSpPr txBox="1"/>
          <p:nvPr/>
        </p:nvSpPr>
        <p:spPr>
          <a:xfrm>
            <a:off x="1104900" y="3449240"/>
            <a:ext cx="4705350" cy="689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Performance: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Uses React Native FlatList for smooth scrolling.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1104900" y="4281487"/>
            <a:ext cx="47053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Logic: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Server-side SQL filtering ensures scalability.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1104900" y="5094684"/>
            <a:ext cx="47053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UI: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Dynamic filtering modal for Industry and Salary.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771525" y="481012"/>
            <a:ext cx="111813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Lora"/>
                <a:ea typeface="Lora"/>
                <a:cs typeface="Lora"/>
                <a:sym typeface="Lora"/>
              </a:rPr>
              <a:t>Results: Discovery Engine</a:t>
            </a:r>
            <a:endParaRPr/>
          </a:p>
        </p:txBody>
      </p:sp>
      <p:sp>
        <p:nvSpPr>
          <p:cNvPr id="286" name="Google Shape;286;p24"/>
          <p:cNvSpPr/>
          <p:nvPr/>
        </p:nvSpPr>
        <p:spPr>
          <a:xfrm>
            <a:off x="771525" y="1204912"/>
            <a:ext cx="10648950" cy="28575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7" name="Google Shape;28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4873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3195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132784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4" name="Google Shape;29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2137" y="1614487"/>
            <a:ext cx="28575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71662" y="1624012"/>
            <a:ext cx="283845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 txBox="1"/>
          <p:nvPr/>
        </p:nvSpPr>
        <p:spPr>
          <a:xfrm>
            <a:off x="6381750" y="2083593"/>
            <a:ext cx="52906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4513"/>
                </a:solidFill>
                <a:latin typeface="Lora"/>
                <a:ea typeface="Lora"/>
                <a:cs typeface="Lora"/>
                <a:sym typeface="Lora"/>
              </a:rPr>
              <a:t>Closed-Loop Transaction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6381750" y="2636043"/>
            <a:ext cx="50387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Successfully digitized the application process with transactional integrity.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6715125" y="3449240"/>
            <a:ext cx="4705350" cy="689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Atomic Insert: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Links user_id to job_id in the database.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6715125" y="4281487"/>
            <a:ext cx="47053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Feedback: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Instant "Success" popup confirmation.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6715125" y="5094684"/>
            <a:ext cx="47053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Prevention: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Backend constraints prevent duplicate submissions.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771525" y="481012"/>
            <a:ext cx="111813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Lora"/>
                <a:ea typeface="Lora"/>
                <a:cs typeface="Lora"/>
                <a:sym typeface="Lora"/>
              </a:rPr>
              <a:t>Results: Application Workflow</a:t>
            </a:r>
            <a:endParaRPr/>
          </a:p>
        </p:txBody>
      </p:sp>
      <p:sp>
        <p:nvSpPr>
          <p:cNvPr id="303" name="Google Shape;303;p25"/>
          <p:cNvSpPr/>
          <p:nvPr/>
        </p:nvSpPr>
        <p:spPr>
          <a:xfrm>
            <a:off x="771525" y="1204912"/>
            <a:ext cx="10648950" cy="28575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4" name="Google Shape;30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4873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3195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5132784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2362" y="1614487"/>
            <a:ext cx="2857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6"/>
          <p:cNvSpPr txBox="1"/>
          <p:nvPr/>
        </p:nvSpPr>
        <p:spPr>
          <a:xfrm>
            <a:off x="771525" y="2260699"/>
            <a:ext cx="52906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4513"/>
                </a:solidFill>
                <a:latin typeface="Lora"/>
                <a:ea typeface="Lora"/>
                <a:cs typeface="Lora"/>
                <a:sym typeface="Lora"/>
              </a:rPr>
              <a:t>Data Persistence</a:t>
            </a:r>
            <a:endParaRPr/>
          </a:p>
        </p:txBody>
      </p:sp>
      <p:sp>
        <p:nvSpPr>
          <p:cNvPr id="314" name="Google Shape;314;p26"/>
          <p:cNvSpPr txBox="1"/>
          <p:nvPr/>
        </p:nvSpPr>
        <p:spPr>
          <a:xfrm>
            <a:off x="771525" y="2813149"/>
            <a:ext cx="50387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Complete CRUD (Create, Read, Update, Delete) capabilities for user data.</a:t>
            </a:r>
            <a:endParaRPr/>
          </a:p>
        </p:txBody>
      </p:sp>
      <p:pic>
        <p:nvPicPr>
          <p:cNvPr descr="image.png" id="315" name="Google Shape;31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1887" y="1624012"/>
            <a:ext cx="283845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6"/>
          <p:cNvSpPr txBox="1"/>
          <p:nvPr/>
        </p:nvSpPr>
        <p:spPr>
          <a:xfrm>
            <a:off x="1104900" y="3626346"/>
            <a:ext cx="47053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Sync: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Real-time synchronization with PostgreSQL.</a:t>
            </a:r>
            <a:endParaRPr/>
          </a:p>
        </p:txBody>
      </p:sp>
      <p:sp>
        <p:nvSpPr>
          <p:cNvPr id="317" name="Google Shape;317;p26"/>
          <p:cNvSpPr txBox="1"/>
          <p:nvPr/>
        </p:nvSpPr>
        <p:spPr>
          <a:xfrm>
            <a:off x="1104900" y="4439542"/>
            <a:ext cx="47053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Customization: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Users can edit skills and bio.</a:t>
            </a:r>
            <a:endParaRPr/>
          </a:p>
        </p:txBody>
      </p:sp>
      <p:sp>
        <p:nvSpPr>
          <p:cNvPr id="318" name="Google Shape;318;p26"/>
          <p:cNvSpPr txBox="1"/>
          <p:nvPr/>
        </p:nvSpPr>
        <p:spPr>
          <a:xfrm>
            <a:off x="1104900" y="4917578"/>
            <a:ext cx="47053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Privacy: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Users can strictly only modify their own data.</a:t>
            </a:r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771525" y="481012"/>
            <a:ext cx="111813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Lora"/>
                <a:ea typeface="Lora"/>
                <a:cs typeface="Lora"/>
                <a:sym typeface="Lora"/>
              </a:rPr>
              <a:t>Results: Profile Management</a:t>
            </a:r>
            <a:endParaRPr/>
          </a:p>
        </p:txBody>
      </p:sp>
      <p:sp>
        <p:nvSpPr>
          <p:cNvPr id="320" name="Google Shape;320;p26"/>
          <p:cNvSpPr/>
          <p:nvPr/>
        </p:nvSpPr>
        <p:spPr>
          <a:xfrm>
            <a:off x="771525" y="1204912"/>
            <a:ext cx="10648950" cy="28575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1" name="Google Shape;32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66444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47764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955678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8" name="Google Shape;32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886098"/>
            <a:ext cx="3359199" cy="3100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474" y="1886098"/>
            <a:ext cx="3359199" cy="3100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1886098"/>
            <a:ext cx="3359199" cy="310098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7"/>
          <p:cNvSpPr txBox="1"/>
          <p:nvPr/>
        </p:nvSpPr>
        <p:spPr>
          <a:xfrm>
            <a:off x="771525" y="5596681"/>
            <a:ext cx="10648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Thank You. Questions?</a:t>
            </a:r>
            <a:endParaRPr/>
          </a:p>
        </p:txBody>
      </p:sp>
      <p:sp>
        <p:nvSpPr>
          <p:cNvPr id="333" name="Google Shape;333;p27"/>
          <p:cNvSpPr txBox="1"/>
          <p:nvPr/>
        </p:nvSpPr>
        <p:spPr>
          <a:xfrm>
            <a:off x="997583" y="2990998"/>
            <a:ext cx="29070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4513"/>
                </a:solidFill>
                <a:latin typeface="Lora"/>
                <a:ea typeface="Lora"/>
                <a:cs typeface="Lora"/>
                <a:sym typeface="Lora"/>
              </a:rPr>
              <a:t>Privacy</a:t>
            </a:r>
            <a:endParaRPr/>
          </a:p>
        </p:txBody>
      </p:sp>
      <p:sp>
        <p:nvSpPr>
          <p:cNvPr id="334" name="Google Shape;334;p27"/>
          <p:cNvSpPr txBox="1"/>
          <p:nvPr/>
        </p:nvSpPr>
        <p:spPr>
          <a:xfrm>
            <a:off x="1066800" y="3543448"/>
            <a:ext cx="276864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Row Level Security (RLS) implemented to ensure strict data isolation.</a:t>
            </a:r>
            <a:endParaRPr/>
          </a:p>
        </p:txBody>
      </p:sp>
      <p:sp>
        <p:nvSpPr>
          <p:cNvPr id="335" name="Google Shape;335;p27"/>
          <p:cNvSpPr txBox="1"/>
          <p:nvPr/>
        </p:nvSpPr>
        <p:spPr>
          <a:xfrm>
            <a:off x="4642533" y="2990998"/>
            <a:ext cx="29070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4513"/>
                </a:solidFill>
                <a:latin typeface="Lora"/>
                <a:ea typeface="Lora"/>
                <a:cs typeface="Lora"/>
                <a:sym typeface="Lora"/>
              </a:rPr>
              <a:t>Fairness</a:t>
            </a:r>
            <a:endParaRPr/>
          </a:p>
        </p:txBody>
      </p:sp>
      <p:sp>
        <p:nvSpPr>
          <p:cNvPr id="336" name="Google Shape;336;p27"/>
          <p:cNvSpPr txBox="1"/>
          <p:nvPr/>
        </p:nvSpPr>
        <p:spPr>
          <a:xfrm>
            <a:off x="4711749" y="3543448"/>
            <a:ext cx="276864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Avoided "Black Box" AI. Chronological sorting ensures equal visibility.</a:t>
            </a:r>
            <a:endParaRPr/>
          </a:p>
        </p:txBody>
      </p:sp>
      <p:sp>
        <p:nvSpPr>
          <p:cNvPr id="337" name="Google Shape;337;p27"/>
          <p:cNvSpPr txBox="1"/>
          <p:nvPr/>
        </p:nvSpPr>
        <p:spPr>
          <a:xfrm>
            <a:off x="8287482" y="2990998"/>
            <a:ext cx="29070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4513"/>
                </a:solidFill>
                <a:latin typeface="Lora"/>
                <a:ea typeface="Lora"/>
                <a:cs typeface="Lora"/>
                <a:sym typeface="Lora"/>
              </a:rPr>
              <a:t>Conclusion</a:t>
            </a:r>
            <a:endParaRPr/>
          </a:p>
        </p:txBody>
      </p:sp>
      <p:sp>
        <p:nvSpPr>
          <p:cNvPr id="338" name="Google Shape;338;p27"/>
          <p:cNvSpPr txBox="1"/>
          <p:nvPr/>
        </p:nvSpPr>
        <p:spPr>
          <a:xfrm>
            <a:off x="8356699" y="3543448"/>
            <a:ext cx="276864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Successfully transitioned from concept to a scalable, secure product.</a:t>
            </a:r>
            <a:endParaRPr/>
          </a:p>
        </p:txBody>
      </p:sp>
      <p:pic>
        <p:nvPicPr>
          <p:cNvPr descr="image.png" id="339" name="Google Shape;339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65300" y="2267098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267098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12349" y="226709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7"/>
          <p:cNvSpPr txBox="1"/>
          <p:nvPr/>
        </p:nvSpPr>
        <p:spPr>
          <a:xfrm>
            <a:off x="771525" y="581025"/>
            <a:ext cx="111813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Lora"/>
                <a:ea typeface="Lora"/>
                <a:cs typeface="Lora"/>
                <a:sym typeface="Lora"/>
              </a:rPr>
              <a:t>Ethics &amp; Conclusion</a:t>
            </a:r>
            <a:endParaRPr/>
          </a:p>
        </p:txBody>
      </p:sp>
      <p:sp>
        <p:nvSpPr>
          <p:cNvPr id="343" name="Google Shape;343;p27"/>
          <p:cNvSpPr/>
          <p:nvPr/>
        </p:nvSpPr>
        <p:spPr>
          <a:xfrm>
            <a:off x="771525" y="1304925"/>
            <a:ext cx="10648950" cy="28575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8" name="Google Shape;34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684287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8"/>
          <p:cNvSpPr/>
          <p:nvPr/>
        </p:nvSpPr>
        <p:spPr>
          <a:xfrm>
            <a:off x="771525" y="2421433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1" name="Google Shape;35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469058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8"/>
          <p:cNvSpPr/>
          <p:nvPr/>
        </p:nvSpPr>
        <p:spPr>
          <a:xfrm>
            <a:off x="771525" y="3206204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3" name="Google Shape;35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253829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8"/>
          <p:cNvSpPr/>
          <p:nvPr/>
        </p:nvSpPr>
        <p:spPr>
          <a:xfrm>
            <a:off x="771525" y="3990975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5" name="Google Shape;35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4038600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8"/>
          <p:cNvSpPr/>
          <p:nvPr/>
        </p:nvSpPr>
        <p:spPr>
          <a:xfrm>
            <a:off x="771525" y="4775745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7" name="Google Shape;35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4823370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8"/>
          <p:cNvSpPr/>
          <p:nvPr/>
        </p:nvSpPr>
        <p:spPr>
          <a:xfrm>
            <a:off x="771525" y="5560516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9" name="Google Shape;35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608141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179561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8"/>
          <p:cNvSpPr txBox="1"/>
          <p:nvPr/>
        </p:nvSpPr>
        <p:spPr>
          <a:xfrm>
            <a:off x="1866900" y="1789062"/>
            <a:ext cx="9553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https://dollarsandsense.sg/wp-content/uploads/2022/03/platform-workers-1-income.jpg</a:t>
            </a:r>
            <a:endParaRPr/>
          </a:p>
        </p:txBody>
      </p:sp>
      <p:sp>
        <p:nvSpPr>
          <p:cNvPr id="362" name="Google Shape;362;p28"/>
          <p:cNvSpPr txBox="1"/>
          <p:nvPr/>
        </p:nvSpPr>
        <p:spPr>
          <a:xfrm>
            <a:off x="1866900" y="2034778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dollarsandsense.sg</a:t>
            </a:r>
            <a:endParaRPr/>
          </a:p>
        </p:txBody>
      </p:sp>
      <p:pic>
        <p:nvPicPr>
          <p:cNvPr descr="image.png" id="363" name="Google Shape;363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58038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8"/>
          <p:cNvSpPr txBox="1"/>
          <p:nvPr/>
        </p:nvSpPr>
        <p:spPr>
          <a:xfrm>
            <a:off x="1866900" y="2573833"/>
            <a:ext cx="9553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https://cdn.dribbble.com/userupload/3815919/file/original-0ca0ef639fa11e96a6ba657614b3697e.png?resize=400x0</a:t>
            </a:r>
            <a:endParaRPr/>
          </a:p>
        </p:txBody>
      </p:sp>
      <p:sp>
        <p:nvSpPr>
          <p:cNvPr id="365" name="Google Shape;365;p28"/>
          <p:cNvSpPr txBox="1"/>
          <p:nvPr/>
        </p:nvSpPr>
        <p:spPr>
          <a:xfrm>
            <a:off x="1866900" y="2819548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dribbble.com</a:t>
            </a:r>
            <a:endParaRPr/>
          </a:p>
        </p:txBody>
      </p:sp>
      <p:pic>
        <p:nvPicPr>
          <p:cNvPr descr="image.png" id="366" name="Google Shape;366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36515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8"/>
          <p:cNvSpPr txBox="1"/>
          <p:nvPr/>
        </p:nvSpPr>
        <p:spPr>
          <a:xfrm>
            <a:off x="1866900" y="3358604"/>
            <a:ext cx="9553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https://startinfinity.s3.us-east-2.amazonaws.com/t/xxFYvXnlAeya4B2AkWuYLJhxeNQ9DyVarRxv7CaJ.png</a:t>
            </a:r>
            <a:endParaRPr/>
          </a:p>
        </p:txBody>
      </p:sp>
      <p:sp>
        <p:nvSpPr>
          <p:cNvPr id="368" name="Google Shape;368;p28"/>
          <p:cNvSpPr txBox="1"/>
          <p:nvPr/>
        </p:nvSpPr>
        <p:spPr>
          <a:xfrm>
            <a:off x="1866900" y="3604319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startinfinity.com</a:t>
            </a:r>
            <a:endParaRPr/>
          </a:p>
        </p:txBody>
      </p:sp>
      <p:pic>
        <p:nvPicPr>
          <p:cNvPr descr="image.png" id="369" name="Google Shape;369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41499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8"/>
          <p:cNvSpPr txBox="1"/>
          <p:nvPr/>
        </p:nvSpPr>
        <p:spPr>
          <a:xfrm>
            <a:off x="1866900" y="4143375"/>
            <a:ext cx="9553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https://insights.daffodilsw.com/hubfs/Frame%201%20%281%29.png</a:t>
            </a:r>
            <a:endParaRPr/>
          </a:p>
        </p:txBody>
      </p:sp>
      <p:sp>
        <p:nvSpPr>
          <p:cNvPr id="371" name="Google Shape;371;p28"/>
          <p:cNvSpPr txBox="1"/>
          <p:nvPr/>
        </p:nvSpPr>
        <p:spPr>
          <a:xfrm>
            <a:off x="1866900" y="4389090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insights.daffodilsw.com</a:t>
            </a:r>
            <a:endParaRPr/>
          </a:p>
        </p:txBody>
      </p:sp>
      <p:pic>
        <p:nvPicPr>
          <p:cNvPr descr="image.png" id="372" name="Google Shape;372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" y="49346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8"/>
          <p:cNvSpPr txBox="1"/>
          <p:nvPr/>
        </p:nvSpPr>
        <p:spPr>
          <a:xfrm>
            <a:off x="1866900" y="4928145"/>
            <a:ext cx="9553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https://cdn.dribbble.com/userupload/42714600/file/original-326070fb5bb809d72d751f485d75c106.png?resize=400x0</a:t>
            </a:r>
            <a:endParaRPr/>
          </a:p>
        </p:txBody>
      </p:sp>
      <p:sp>
        <p:nvSpPr>
          <p:cNvPr id="374" name="Google Shape;374;p28"/>
          <p:cNvSpPr txBox="1"/>
          <p:nvPr/>
        </p:nvSpPr>
        <p:spPr>
          <a:xfrm>
            <a:off x="1866900" y="5173860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dribbble.com</a:t>
            </a:r>
            <a:endParaRPr/>
          </a:p>
        </p:txBody>
      </p:sp>
      <p:pic>
        <p:nvPicPr>
          <p:cNvPr descr="image.png" id="375" name="Google Shape;375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1525" y="571946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8"/>
          <p:cNvSpPr txBox="1"/>
          <p:nvPr/>
        </p:nvSpPr>
        <p:spPr>
          <a:xfrm>
            <a:off x="1866900" y="5712916"/>
            <a:ext cx="9553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https://cdn.dribbble.com/userupload/15258786/file/original-5aa712451525498cee4ff34545017127.png?format=webp&amp;resize=400x300&amp;vertical=center</a:t>
            </a:r>
            <a:endParaRPr/>
          </a:p>
        </p:txBody>
      </p:sp>
      <p:sp>
        <p:nvSpPr>
          <p:cNvPr id="377" name="Google Shape;377;p28"/>
          <p:cNvSpPr txBox="1"/>
          <p:nvPr/>
        </p:nvSpPr>
        <p:spPr>
          <a:xfrm>
            <a:off x="1866900" y="5958631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dribbble.com</a:t>
            </a:r>
            <a:endParaRPr/>
          </a:p>
        </p:txBody>
      </p:sp>
      <p:sp>
        <p:nvSpPr>
          <p:cNvPr id="378" name="Google Shape;378;p28"/>
          <p:cNvSpPr txBox="1"/>
          <p:nvPr/>
        </p:nvSpPr>
        <p:spPr>
          <a:xfrm>
            <a:off x="771525" y="512712"/>
            <a:ext cx="111813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Lora"/>
                <a:ea typeface="Lora"/>
                <a:cs typeface="Lora"/>
                <a:sym typeface="Lora"/>
              </a:rPr>
              <a:t>Image Sources</a:t>
            </a:r>
            <a:endParaRPr/>
          </a:p>
        </p:txBody>
      </p:sp>
      <p:sp>
        <p:nvSpPr>
          <p:cNvPr id="379" name="Google Shape;379;p28"/>
          <p:cNvSpPr/>
          <p:nvPr/>
        </p:nvSpPr>
        <p:spPr>
          <a:xfrm>
            <a:off x="771525" y="1236612"/>
            <a:ext cx="10648950" cy="28575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